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4" r:id="rId4"/>
    <p:sldId id="268" r:id="rId5"/>
    <p:sldId id="271" r:id="rId6"/>
    <p:sldId id="272" r:id="rId7"/>
    <p:sldId id="263" r:id="rId8"/>
    <p:sldId id="270" r:id="rId9"/>
    <p:sldId id="274" r:id="rId10"/>
    <p:sldId id="265" r:id="rId11"/>
    <p:sldId id="273" r:id="rId12"/>
    <p:sldId id="261" r:id="rId13"/>
    <p:sldId id="266" r:id="rId14"/>
    <p:sldId id="280" r:id="rId15"/>
    <p:sldId id="278" r:id="rId16"/>
    <p:sldId id="279" r:id="rId17"/>
    <p:sldId id="286" r:id="rId18"/>
    <p:sldId id="276" r:id="rId19"/>
    <p:sldId id="287" r:id="rId20"/>
    <p:sldId id="283" r:id="rId21"/>
    <p:sldId id="285" r:id="rId22"/>
    <p:sldId id="277" r:id="rId23"/>
    <p:sldId id="288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9B3A5-CB7F-595C-676B-174D56A62DA1}" v="39" dt="2025-12-01T02:04:07.443"/>
    <p1510:client id="{2270DDF0-D3B3-A90F-21A3-B4FB95D79804}" v="4" dt="2025-12-01T02:12:19.780"/>
    <p1510:client id="{3A720F5E-4C36-E987-C31E-D654C3D64C48}" v="15" dt="2025-11-30T18:53:17.516"/>
    <p1510:client id="{4176E0B0-2488-23AE-4E71-A734AF97D3F4}" v="67" dt="2025-12-01T00:00:12.157"/>
    <p1510:client id="{4EE75BFA-5041-7C2E-F8CB-32B9DFE25C6C}" v="81" dt="2025-11-30T19:37:02.102"/>
    <p1510:client id="{52747A12-5BD8-422D-256D-9D81F48164DB}" v="152" dt="2025-12-01T02:38:44.373"/>
    <p1510:client id="{56CACAEF-0E9B-5FF9-4C7D-582D0123B56B}" v="78" dt="2025-12-01T01:49:07.350"/>
    <p1510:client id="{6127F718-DC51-E721-F873-BE0144B8E1F6}" v="94" dt="2025-11-29T18:24:26.462"/>
    <p1510:client id="{772DA427-845D-A919-27EF-ECD68745346A}" v="29" dt="2025-12-01T02:37:29.075"/>
    <p1510:client id="{8A2D16E7-CBA1-D034-BF67-EEAFAE138D3E}" v="9" dt="2025-12-01T00:51:41.161"/>
    <p1510:client id="{B27A5C01-5BAD-BD61-AF08-4D940CC4E007}" v="371" dt="2025-12-01T01:54:18.312"/>
    <p1510:client id="{B2A2A135-A852-A1FB-BA5C-D65F84F29AEF}" v="1517" dt="2025-11-30T19:20:23.249"/>
    <p1510:client id="{DF2A2DD0-AB06-22BC-D8D2-6F4DCAB00517}" v="726" dt="2025-12-01T00:26:55.184"/>
    <p1510:client id="{E16CBEC5-8CC8-81E0-A1D2-2EB2A8E93496}" v="561" dt="2025-12-01T00:26:01.462"/>
    <p1510:client id="{EE6C6BCA-67C9-68CE-6B4A-1C16A57D8939}" v="1106" dt="2025-12-01T01:59:09.305"/>
    <p1510:client id="{F84B0650-F003-1C28-592C-403B07B91459}" v="1557" dt="2025-12-01T01:11:29.5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DDC95FA9-076A-421D-93A3-9C29819EB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A6C8D94-3813-4D93-A6A7-A97EFFBCF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794673D-8563-4993-8E86-6D89D6E97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8906114-25F0-4386-BC12-A5CB6A04F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9434651-094A-4780-979E-29A3042F5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15BDC44-59B0-48DF-871F-0881BB593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618FCF5-B341-43DF-A055-DC56EA920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9408E04-9221-499E-B0F3-3AFD9025F7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067B1604-40F1-4335-8A11-6091E0F52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0394" y="901010"/>
            <a:ext cx="10122060" cy="234327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PrestigeCars Normalized Database </a:t>
            </a:r>
            <a:endParaRPr lang="en-US" sz="4800" kern="1200">
              <a:solidFill>
                <a:schemeClr val="bg1"/>
              </a:solidFill>
              <a:latin typeface="+mj-lt"/>
            </a:endParaRPr>
          </a:p>
          <a:p>
            <a:endParaRPr lang="en-US" sz="4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A00467E-A507-4BEF-AAB5-2B35F13FA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4BCCBFD-2A87-46DC-A665-6039BF72D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1707DB8-2262-4E11-B8E7-A0042E439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DCA04D0-796D-4920-BED4-627870868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78B0366-955C-44C5-B011-378E1994D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38F216F-4DA3-4165-A786-E7F2710B8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05E35C12-B6B4-4F57-950C-6EB3CD8F4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B14810E-84F3-4F8A-AF58-F452B9815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687E051-F20C-4A55-AEDD-ED9B2D996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F834F70-7A0E-4202-8ECC-5EE81C93C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2993E0E-3E7B-48D8-A799-39FECD3E1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B12773A-5C03-4DD5-B9B4-24F4A429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6875" y="3726352"/>
            <a:ext cx="7315200" cy="253154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700">
              <a:solidFill>
                <a:schemeClr val="bg1"/>
              </a:solidFill>
            </a:endParaRPr>
          </a:p>
          <a:p>
            <a:r>
              <a:rPr lang="en-US" sz="1700">
                <a:solidFill>
                  <a:schemeClr val="bg1"/>
                </a:solidFill>
              </a:rPr>
              <a:t>Ridhwan Ibrahim</a:t>
            </a:r>
          </a:p>
          <a:p>
            <a:r>
              <a:rPr lang="en-US" sz="1700">
                <a:solidFill>
                  <a:schemeClr val="bg1"/>
                </a:solidFill>
              </a:rPr>
              <a:t>Giorgos Stefanis</a:t>
            </a:r>
          </a:p>
          <a:p>
            <a:r>
              <a:rPr lang="en-US" sz="1700">
                <a:solidFill>
                  <a:schemeClr val="bg1"/>
                </a:solidFill>
              </a:rPr>
              <a:t>Seeram Govindan</a:t>
            </a:r>
          </a:p>
          <a:p>
            <a:r>
              <a:rPr lang="en-US" sz="1700">
                <a:solidFill>
                  <a:schemeClr val="bg1"/>
                </a:solidFill>
              </a:rPr>
              <a:t>Hasan Husseini</a:t>
            </a:r>
          </a:p>
          <a:p>
            <a:r>
              <a:rPr lang="en-US" sz="1700" err="1">
                <a:solidFill>
                  <a:schemeClr val="bg1"/>
                </a:solidFill>
              </a:rPr>
              <a:t>Youlun</a:t>
            </a:r>
            <a:r>
              <a:rPr lang="en-US" sz="1700">
                <a:solidFill>
                  <a:schemeClr val="bg1"/>
                </a:solidFill>
              </a:rPr>
              <a:t> Wang</a:t>
            </a:r>
          </a:p>
          <a:p>
            <a:r>
              <a:rPr lang="en-US" sz="1700">
                <a:solidFill>
                  <a:schemeClr val="bg1"/>
                </a:solidFill>
              </a:rPr>
              <a:t>Michael Cipriani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B0697-B268-F381-9F04-4AF2FD746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Project Overview</a:t>
            </a:r>
            <a:endParaRPr lang="en-US" sz="4000">
              <a:solidFill>
                <a:srgbClr val="000000"/>
              </a:solidFill>
            </a:endParaRPr>
          </a:p>
          <a:p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291A5-A3F7-364F-F2F0-4E0C883B8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Original </a:t>
            </a:r>
            <a:r>
              <a:rPr lang="en-US" sz="2400" err="1"/>
              <a:t>PrestigeCars</a:t>
            </a:r>
            <a:r>
              <a:rPr lang="en-US" sz="2400"/>
              <a:t> Database was not normalized</a:t>
            </a:r>
          </a:p>
          <a:p>
            <a:r>
              <a:rPr lang="en-US" sz="2400"/>
              <a:t>Tables contained NULL values and lacked check constraints</a:t>
            </a:r>
          </a:p>
          <a:p>
            <a:r>
              <a:rPr lang="en-US" sz="2400"/>
              <a:t>The goal of the project was to rebuild the tables using </a:t>
            </a:r>
            <a:r>
              <a:rPr lang="en-US" sz="2400" err="1"/>
              <a:t>udts</a:t>
            </a:r>
            <a:r>
              <a:rPr lang="en-US" sz="2400"/>
              <a:t>, FQDNs, FQTNs and use two valued predicate logic.</a:t>
            </a:r>
          </a:p>
          <a:p>
            <a:r>
              <a:rPr lang="en-US" sz="2400"/>
              <a:t>Each group member was responsible for normalizing one table group in the DB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96905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10543-6846-512F-5DFE-460996D13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6C16A98-68E3-3E6D-D6E9-F8876CE03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8D01A-0FD1-385A-7713-13E06551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Project Lifecycle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CFDC56-5679-D4E0-1B2E-D321D3BBC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607AAC-FCBE-5644-5728-7291103E5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852CE-C7DD-DA34-466D-A24162E11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First we had to decide on schemas to define Business Glossary Domains (FQDNs)</a:t>
            </a:r>
            <a:endParaRPr lang="en-US"/>
          </a:p>
          <a:p>
            <a:r>
              <a:rPr lang="en-US" sz="2400"/>
              <a:t>Next we defined UDTs that enforced consistent data types  and incorporated business meaning</a:t>
            </a:r>
          </a:p>
          <a:p>
            <a:r>
              <a:rPr lang="en-US" sz="2400"/>
              <a:t>Each group member then normalized assigned tables, eliminating nulls and two valued predicate logic</a:t>
            </a:r>
          </a:p>
          <a:p>
            <a:r>
              <a:rPr lang="en-US" sz="2400"/>
              <a:t>ERD was then created to document table relationships and domain usage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13681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181D2-0EC8-EDF8-8338-80C1B836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DE55BDA-2D03-8FA5-2F6A-91C2EC07C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6FDEE-CD0A-25A3-0694-61A8A3AE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Schemas and their meaning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CF3019-5460-2045-ACFE-29766B8A8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296008-E19B-109C-70AE-5FD7DC488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713D3A-5E80-E3E6-3311-4648103225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9116332"/>
              </p:ext>
            </p:extLst>
          </p:nvPr>
        </p:nvGraphicFramePr>
        <p:xfrm>
          <a:off x="838200" y="2890337"/>
          <a:ext cx="10515600" cy="2971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027359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9083599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r>
                        <a:rPr lang="en-US"/>
                        <a:t>Schema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Business Glossary Domain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18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PersonalInformation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Human identity attributes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365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FinancialInformation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Amount / Monetary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315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Personally Identifiable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980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Manufacturing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Vehicle Manufacturing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8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VehicleInformation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Core vehicle 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27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TransactionInformation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Sales transaction identifiers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533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ELT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Data-quality control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19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0F8AF92-7C28-BEAB-0613-5F4396E3838E}"/>
              </a:ext>
            </a:extLst>
          </p:cNvPr>
          <p:cNvSpPr txBox="1"/>
          <p:nvPr/>
        </p:nvSpPr>
        <p:spPr>
          <a:xfrm>
            <a:off x="835069" y="2202493"/>
            <a:ext cx="105114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We separated UDTs into schemas that represent business glossary domains</a:t>
            </a:r>
          </a:p>
        </p:txBody>
      </p:sp>
    </p:spTree>
    <p:extLst>
      <p:ext uri="{BB962C8B-B14F-4D97-AF65-F5344CB8AC3E}">
        <p14:creationId xmlns:p14="http://schemas.microsoft.com/office/powerpoint/2010/main" val="110676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E47B0-31B7-88A0-D46C-87EDD448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A57FD-B483-F993-5A3A-E05EAB1CA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UDT Reuse Across the System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A98EC-CC03-7413-ACDB-9B840ECD5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7769" y="1909192"/>
            <a:ext cx="4586513" cy="36477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2000">
                <a:solidFill>
                  <a:schemeClr val="bg1"/>
                </a:solidFill>
              </a:rPr>
              <a:t>In order to demonstrate consistency and uniformity, we confirmed that our User-Defined Data Types (FQDNs) are utilized across several tables.</a:t>
            </a:r>
          </a:p>
          <a:p>
            <a:pPr marL="0"/>
            <a:endParaRPr lang="en-US" sz="200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706346-6F17-98CE-625D-7A3CD478EF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7480" y="871971"/>
            <a:ext cx="5666547" cy="511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2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38097-B91A-4685-F717-879323C6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D862F82-15DE-B03F-4958-7C2D83255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FFD739-9098-F46A-C4FE-90FADDB9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>
                <a:solidFill>
                  <a:schemeClr val="bg1"/>
                </a:solidFill>
                <a:ea typeface="+mj-lt"/>
                <a:cs typeface="+mj-lt"/>
              </a:rPr>
              <a:t>How Our UDTs Encode Business Meaning</a:t>
            </a:r>
            <a:endParaRPr lang="en-US">
              <a:solidFill>
                <a:schemeClr val="bg1"/>
              </a:solidFill>
              <a:ea typeface="+mj-ea"/>
              <a:cs typeface="+mj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F83348-B58A-461D-508E-7513C64C4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7BEF6-1486-A5D7-F42D-F79878211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7769" y="1909192"/>
            <a:ext cx="4586513" cy="364771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342900"/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Every UDT name is not meaningless, rather than reflecting a technical field type, the TypeName represents an actual business notion.</a:t>
            </a:r>
            <a:endParaRPr lang="en-US" sz="2400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Every UDT contains:</a:t>
            </a:r>
            <a:endParaRPr lang="en-US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The appropriate dimensions and accuracy</a:t>
            </a:r>
            <a:endParaRPr lang="en-US" sz="20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Validation of domains</a:t>
            </a:r>
            <a:endParaRPr lang="en-US" sz="20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Default values that avoid NULL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The schema defines the domain scope.</a:t>
            </a:r>
            <a:endParaRPr lang="en-US" sz="2000">
              <a:solidFill>
                <a:schemeClr val="bg1"/>
              </a:solidFill>
            </a:endParaRPr>
          </a:p>
          <a:p>
            <a:pPr marL="0"/>
            <a:endParaRPr lang="en-US" sz="200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747C9C-6152-3763-A907-CA7D313AE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D108D5-9489-B744-CAD5-E879782E7E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61760" y="1472431"/>
            <a:ext cx="5570220" cy="418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97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3060D-0CCC-B237-650C-8D21458A2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87B1929-D805-A414-9C01-263670436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093A9-AAEB-3D81-29A3-2D752BF57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Hierarchy &amp; use of UDT names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9F07DA-384D-5213-E4CD-0B75D2B4B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3EC059-265C-CEB5-4D89-92D695C69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E142F-A150-1B58-D80A-30D7D522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Our team established a shared Business Glossary Domain Library, where UDT was defined once and reused across the entire DB. </a:t>
            </a:r>
          </a:p>
          <a:p>
            <a:r>
              <a:rPr lang="en-US" sz="2400"/>
              <a:t>This ensured consistent meaning and consistent datatypes and consistent constraints wherever the domain appears.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628312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6B385-8716-2D28-8C40-2032B370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582AB3-C126-482E-A254-25B171410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CE618-D3F9-5D39-9AC8-4C7C074B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378969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Subsystem Schemas (FQTN)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53D138-AD45-8F6E-2E3D-F9C73EE65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589D0A-8393-0FA5-1771-8445932C7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0F9D5B-A704-3415-36C3-AD5C5E5FC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6907"/>
            <a:ext cx="10515600" cy="33161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OperationsManagement</a:t>
            </a:r>
            <a:r>
              <a:rPr lang="en-US">
                <a:ea typeface="+mn-lt"/>
                <a:cs typeface="+mn-lt"/>
              </a:rPr>
              <a:t> – Stock, Sales, Workflow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ReferenceData</a:t>
            </a:r>
            <a:r>
              <a:rPr lang="en-US">
                <a:ea typeface="+mn-lt"/>
                <a:cs typeface="+mn-lt"/>
              </a:rPr>
              <a:t> – Country, Budgets</a:t>
            </a:r>
          </a:p>
          <a:p>
            <a:r>
              <a:rPr lang="en-US">
                <a:ea typeface="+mn-lt"/>
                <a:cs typeface="+mn-lt"/>
              </a:rPr>
              <a:t>Data – Legacy structures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Output – Reporting extracts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SourceData</a:t>
            </a:r>
            <a:r>
              <a:rPr lang="en-US">
                <a:ea typeface="+mn-lt"/>
                <a:cs typeface="+mn-lt"/>
              </a:rPr>
              <a:t> – Raw ingestion tables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78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E1672-5D30-5608-F41B-850039895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E4FAC9D-411D-E9EC-833F-4576EF1DF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1ED63-A57C-64DB-DF4A-65109E12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378969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err="1">
                <a:solidFill>
                  <a:schemeClr val="bg1"/>
                </a:solidFill>
              </a:rPr>
              <a:t>OperationsManagement.Stock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0BCDB6-2531-DFD0-3962-EBAB7028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02E35-6D68-8B39-4519-9108A64D2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6907"/>
            <a:ext cx="10515600" cy="331616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err="1"/>
              <a:t>OperationsManagement</a:t>
            </a:r>
            <a:r>
              <a:rPr lang="en-US"/>
              <a:t> was chosen schema because it describes the enterprise domain where a stock table belongs. </a:t>
            </a:r>
          </a:p>
          <a:p>
            <a:r>
              <a:rPr lang="en-US"/>
              <a:t>Stock table describes physical inventory which is used primarily in operations of the company. </a:t>
            </a:r>
          </a:p>
          <a:p>
            <a:r>
              <a:rPr lang="en-US" err="1"/>
              <a:t>Udts</a:t>
            </a:r>
            <a:r>
              <a:rPr lang="en-US"/>
              <a:t> were created based on existing schemas to enforce a certain type.</a:t>
            </a:r>
          </a:p>
          <a:p>
            <a:pPr marL="685800">
              <a:spcBef>
                <a:spcPts val="500"/>
              </a:spcBef>
            </a:pPr>
            <a:r>
              <a:rPr lang="en-US" sz="2400"/>
              <a:t>Example: </a:t>
            </a:r>
            <a:endParaRPr lang="en-US" sz="2400">
              <a:latin typeface="Aptos"/>
            </a:endParaRPr>
          </a:p>
          <a:p>
            <a:pPr marL="1257300" lvl="1" indent="-342900"/>
            <a:r>
              <a:rPr lang="en-US" sz="2000" err="1">
                <a:latin typeface="Aptos"/>
              </a:rPr>
              <a:t>VehicleInformation.StockCode</a:t>
            </a:r>
            <a:r>
              <a:rPr lang="en-US" sz="2000">
                <a:ea typeface="+mn-lt"/>
                <a:cs typeface="+mn-lt"/>
              </a:rPr>
              <a:t> → uniquely identifies each vehicle.</a:t>
            </a:r>
          </a:p>
          <a:p>
            <a:pPr lvl="2"/>
            <a:r>
              <a:rPr lang="en-US">
                <a:latin typeface="Aptos"/>
              </a:rPr>
              <a:t> </a:t>
            </a:r>
            <a:r>
              <a:rPr lang="en-US" err="1">
                <a:latin typeface="Aptos"/>
              </a:rPr>
              <a:t>VehicleInformation.ModelID</a:t>
            </a:r>
            <a:r>
              <a:rPr lang="en-US">
                <a:ea typeface="+mn-lt"/>
                <a:cs typeface="+mn-lt"/>
              </a:rPr>
              <a:t> → ties stock to vehicle specifications.</a:t>
            </a:r>
          </a:p>
          <a:p>
            <a:r>
              <a:rPr lang="en-US"/>
              <a:t>Default values also ensured no attribute is entered as a NULL</a:t>
            </a:r>
          </a:p>
          <a:p>
            <a:r>
              <a:rPr lang="en-US"/>
              <a:t>COALESCE converted missing inputs into default inputs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81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3D48D-D750-DD49-0F19-2508E6024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7351900-6D04-15D4-B21D-951D178F5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AA824-F151-D709-EEBB-32D424B1F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Constraints and Default values used 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182650-F4ED-BC8A-4643-DB9A8718D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823CAF-0BB2-E243-9DB8-5E4AB27C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B8703-0832-44E0-B019-372288C83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059193"/>
            <a:ext cx="9880893" cy="45059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Constraints enforce specific values that make sense for the business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Example: (Cost &gt;= 0)</a:t>
            </a:r>
          </a:p>
          <a:p>
            <a:r>
              <a:rPr lang="en-US" sz="2400"/>
              <a:t>UDT-level rules (</a:t>
            </a:r>
            <a:r>
              <a:rPr lang="en-US" sz="2400" err="1"/>
              <a:t>booleanFlag</a:t>
            </a:r>
            <a:r>
              <a:rPr lang="en-US" sz="2400"/>
              <a:t>)</a:t>
            </a:r>
          </a:p>
          <a:p>
            <a:r>
              <a:rPr lang="en-US" sz="2400"/>
              <a:t>Default Values eliminate NULLs and enforce two-valued logic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Default 0.00 for Amount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Default 0 for </a:t>
            </a:r>
            <a:r>
              <a:rPr lang="en-US" sz="2000" err="1">
                <a:ea typeface="+mn-lt"/>
                <a:cs typeface="+mn-lt"/>
              </a:rPr>
              <a:t>BooleanFlag</a:t>
            </a:r>
            <a:endParaRPr lang="en-US" sz="20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Default "Unknown" for text fields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Default "1900-01-01" for unknown dates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31611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07E74-D5B2-277E-DE18-5F2E37F49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B853BBD-8941-9711-5454-FBAB1A463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4195B8-FF08-655A-B5C9-3F4DCDEC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err="1">
                <a:solidFill>
                  <a:schemeClr val="bg1"/>
                </a:solidFill>
              </a:rPr>
              <a:t>ReviewRow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2AAE5C-584C-6682-310B-BCFB4C08C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0C1B47-041E-78D3-49DA-41BC7FE20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A4110-F3C4-A5DC-7B7B-C6A1E6BD8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sz="2400">
                <a:ea typeface="+mn-lt"/>
                <a:cs typeface="+mn-lt"/>
              </a:rPr>
              <a:t>We count how many NULLS were encountered</a:t>
            </a:r>
          </a:p>
          <a:p>
            <a:pPr marL="342900" indent="-342900"/>
            <a:r>
              <a:rPr lang="en-US" sz="2400">
                <a:ea typeface="+mn-lt"/>
                <a:cs typeface="+mn-lt"/>
              </a:rPr>
              <a:t>If NULLS exist, then </a:t>
            </a:r>
            <a:r>
              <a:rPr lang="en-US" sz="2400" err="1">
                <a:ea typeface="+mn-lt"/>
                <a:cs typeface="+mn-lt"/>
              </a:rPr>
              <a:t>ReviewRow</a:t>
            </a:r>
            <a:r>
              <a:rPr lang="en-US" sz="2400">
                <a:ea typeface="+mn-lt"/>
                <a:cs typeface="+mn-lt"/>
              </a:rPr>
              <a:t> is set to 1</a:t>
            </a:r>
          </a:p>
          <a:p>
            <a:pPr marL="342900" indent="-342900"/>
            <a:r>
              <a:rPr lang="en-US" sz="2400">
                <a:ea typeface="+mn-lt"/>
                <a:cs typeface="+mn-lt"/>
              </a:rPr>
              <a:t>If </a:t>
            </a:r>
            <a:r>
              <a:rPr lang="en-US" sz="2400" err="1">
                <a:ea typeface="+mn-lt"/>
                <a:cs typeface="+mn-lt"/>
              </a:rPr>
              <a:t>ReviewRow</a:t>
            </a:r>
            <a:r>
              <a:rPr lang="en-US" sz="2400">
                <a:ea typeface="+mn-lt"/>
                <a:cs typeface="+mn-lt"/>
              </a:rPr>
              <a:t> = 0 then it is clean, no need for substitutions</a:t>
            </a:r>
            <a:endParaRPr lang="en-US"/>
          </a:p>
          <a:p>
            <a:pPr marL="342900" indent="-342900"/>
            <a:r>
              <a:rPr lang="en-US" sz="2400">
                <a:ea typeface="+mn-lt"/>
                <a:cs typeface="+mn-lt"/>
              </a:rPr>
              <a:t>Else if </a:t>
            </a:r>
            <a:r>
              <a:rPr lang="en-US" sz="2400" err="1">
                <a:ea typeface="+mn-lt"/>
                <a:cs typeface="+mn-lt"/>
              </a:rPr>
              <a:t>ReviewRow</a:t>
            </a:r>
            <a:r>
              <a:rPr lang="en-US" sz="2400">
                <a:ea typeface="+mn-lt"/>
                <a:cs typeface="+mn-lt"/>
              </a:rPr>
              <a:t> = 1, there is at least one NULL value that as replaced</a:t>
            </a:r>
          </a:p>
          <a:p>
            <a:pPr marL="342900" indent="-342900"/>
            <a:r>
              <a:rPr lang="en-US" sz="2400">
                <a:ea typeface="+mn-lt"/>
                <a:cs typeface="+mn-lt"/>
              </a:rPr>
              <a:t>This identifies which rows were originally clean as well as review cleaned rows.</a:t>
            </a:r>
            <a:endParaRPr lang="en-US"/>
          </a:p>
          <a:p>
            <a:pPr marL="342900" indent="-342900"/>
            <a:endParaRPr lang="en-US" sz="2400"/>
          </a:p>
          <a:p>
            <a:pPr marL="342900" indent="-342900"/>
            <a:endParaRPr lang="en-US" sz="2400"/>
          </a:p>
        </p:txBody>
      </p:sp>
      <p:pic>
        <p:nvPicPr>
          <p:cNvPr id="4" name="Picture 3" descr="A white grid with black text&#10;&#10;AI-generated content may be incorrect.">
            <a:extLst>
              <a:ext uri="{FF2B5EF4-FFF2-40B4-BE49-F238E27FC236}">
                <a16:creationId xmlns:a16="http://schemas.microsoft.com/office/drawing/2014/main" id="{1C8105D6-7D7F-D153-8390-658D9154B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56" y="5296901"/>
            <a:ext cx="11705964" cy="74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8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1A1D1E-20E0-CB36-FA2B-EA97C5A1F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Data cleansing strategy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67591-C8D0-D55A-443B-2C813D6D4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sz="2400">
                <a:ea typeface="+mn-lt"/>
                <a:cs typeface="+mn-lt"/>
              </a:rPr>
              <a:t>Our ELT pipeline converts nullable inputs into well-defined default values using domain UDT rules and flags any substituted rows using the </a:t>
            </a:r>
            <a:r>
              <a:rPr lang="en-US" sz="2400" err="1">
                <a:ea typeface="+mn-lt"/>
                <a:cs typeface="+mn-lt"/>
              </a:rPr>
              <a:t>ReviewRow</a:t>
            </a:r>
            <a:r>
              <a:rPr lang="en-US" sz="2400">
                <a:ea typeface="+mn-lt"/>
                <a:cs typeface="+mn-lt"/>
              </a:rPr>
              <a:t> bit, ensuring two-valued predicate logic for reliable downstream processing.</a:t>
            </a:r>
          </a:p>
          <a:p>
            <a:pPr marL="342900" indent="-342900"/>
            <a:r>
              <a:rPr lang="en-US" sz="2400"/>
              <a:t>Every column uses COALESCE in order to prevent NULL and enforce the default values. </a:t>
            </a:r>
          </a:p>
          <a:p>
            <a:pPr marL="342900" indent="-342900"/>
            <a:endParaRPr lang="en-US" sz="2400"/>
          </a:p>
          <a:p>
            <a:pPr marL="342900" indent="-34290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59166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137F6-A1D7-7E30-CB38-660A60691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0CADBB6-FD6B-84BC-4001-CE3F19E4F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D5F1E9-30F0-BD54-BC68-66CA8945B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Views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234108-8E35-D3FD-9CA4-265ED2B4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4F983F-A61F-6DB7-088F-02C544975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068DD-F07F-4B2B-7505-D29E432B1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We created views to present normalized tables and data</a:t>
            </a:r>
          </a:p>
          <a:p>
            <a:r>
              <a:rPr lang="en-US" sz="2400"/>
              <a:t>Our views display FQTNs and FQDs only, hiding the raw legacy structure</a:t>
            </a:r>
          </a:p>
          <a:p>
            <a:r>
              <a:rPr lang="en-US" sz="2400"/>
              <a:t>This ensures the consistency of column naming convention, and elimination of 3-valued predicate logic through its conversion into 2-valued predicate logic</a:t>
            </a:r>
          </a:p>
          <a:p>
            <a:r>
              <a:rPr lang="en-US" sz="2400"/>
              <a:t>The views allow users to interact with the normalized data without needing to understand the overall domain structure. </a:t>
            </a:r>
          </a:p>
        </p:txBody>
      </p:sp>
    </p:spTree>
    <p:extLst>
      <p:ext uri="{BB962C8B-B14F-4D97-AF65-F5344CB8AC3E}">
        <p14:creationId xmlns:p14="http://schemas.microsoft.com/office/powerpoint/2010/main" val="1106059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282AC-E796-7D03-58E8-8C555D423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5A6A37-049C-E2CA-1BD2-4BDD75CA8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4C2A3F-0094-0F6D-FAAD-B993D1093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Foreign Keys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D23A3B-A626-7E83-33A7-092CFD8AB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F1D910-E4ED-9340-62C1-98BCE182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CEA07E-B86D-7E5F-BC9C-B71B30CFB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809" y="5204408"/>
            <a:ext cx="9880893" cy="12475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DC74D0-7072-BEFD-BB13-1AD018DA31B5}"/>
              </a:ext>
            </a:extLst>
          </p:cNvPr>
          <p:cNvSpPr txBox="1"/>
          <p:nvPr/>
        </p:nvSpPr>
        <p:spPr>
          <a:xfrm>
            <a:off x="844826" y="2186609"/>
            <a:ext cx="970721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Foreign Key Relationships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SalesDetails</a:t>
            </a:r>
            <a:r>
              <a:rPr lang="en-US" b="1">
                <a:ea typeface="+mn-lt"/>
                <a:cs typeface="+mn-lt"/>
              </a:rPr>
              <a:t> → Sales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Linked by </a:t>
            </a:r>
            <a:r>
              <a:rPr lang="en-US" err="1">
                <a:latin typeface="Consolas"/>
              </a:rPr>
              <a:t>SalesID</a:t>
            </a:r>
            <a:r>
              <a:rPr lang="en-US">
                <a:ea typeface="+mn-lt"/>
                <a:cs typeface="+mn-lt"/>
              </a:rPr>
              <a:t> to ensure each detail belongs to a valid sale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SalesDetails</a:t>
            </a:r>
            <a:r>
              <a:rPr lang="en-US" b="1">
                <a:ea typeface="+mn-lt"/>
                <a:cs typeface="+mn-lt"/>
              </a:rPr>
              <a:t> → Stock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Linked by </a:t>
            </a:r>
            <a:r>
              <a:rPr lang="en-US" err="1">
                <a:latin typeface="Consolas"/>
              </a:rPr>
              <a:t>StockID</a:t>
            </a:r>
            <a:r>
              <a:rPr lang="en-US">
                <a:ea typeface="+mn-lt"/>
                <a:cs typeface="+mn-lt"/>
              </a:rPr>
              <a:t> to prevent selling items that don’t exist in stock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Model → Make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Ensures each model belongs to an existing manufacturer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Sales → Customer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Linked by </a:t>
            </a:r>
            <a:r>
              <a:rPr lang="en-US" err="1">
                <a:latin typeface="Consolas"/>
              </a:rPr>
              <a:t>CustomerID</a:t>
            </a:r>
            <a:r>
              <a:rPr lang="en-US">
                <a:ea typeface="+mn-lt"/>
                <a:cs typeface="+mn-lt"/>
              </a:rPr>
              <a:t> to make sure every sale references a valid customer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32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6F84D-DA17-9909-1C91-CE7151640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5C029CF-3720-E47F-CCA4-44CCED59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1EC84-CAC5-B8B8-F967-1EC652AA8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Make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C5D87A-4095-9BBB-8F6C-FF9C59279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BA452B-DB92-D0C3-B281-8902BF27B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5420FE-045A-4C23-FCAA-9DD652932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1228" y="2012903"/>
            <a:ext cx="8922847" cy="446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446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A8EA7-5B15-C2A6-D906-527406F03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78032B9-B68C-B0A6-2904-906301413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5B772-BC30-866E-6D19-34077C65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A83C35-9319-640E-3899-9E2219C8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FDDABC-3DBA-C614-FF77-283560E23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26546B-29B6-F1A5-2CB8-87D96444A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8042" y="2011479"/>
            <a:ext cx="76062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9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4D2472-7889-2C66-A2F5-C5E527FD8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98E6179-EA84-213C-FD95-384915415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23061-CEC6-7656-836A-F50F4BCA6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Sales 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6FA69D-7FE6-6B75-3D94-798796C4C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BDF508-CB87-8D84-9AE4-7B378734E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4A3366-B42F-751B-5A5E-50C4DA228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039" y="2045242"/>
            <a:ext cx="9545052" cy="448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08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822FC-91C8-59B6-B0E6-6CACF7D3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E2B482-C8E7-6BF8-7EC2-47748C40E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D68B0-6A84-08EC-97AD-BD75601C9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bg1"/>
                </a:solidFill>
              </a:rPr>
              <a:t>SalesDetail</a:t>
            </a:r>
            <a:br>
              <a:rPr lang="en-US" sz="4000"/>
            </a:b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3B0D6F-C023-A5B0-C632-3C1AEDC98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08B825-5F62-D1F1-A07D-A6A2CDCA2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E9B1C-1B9A-24AD-2DA7-EB3878D8A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059193"/>
            <a:ext cx="9880893" cy="45059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endParaRPr lang="en-US" sz="16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08BC4A-E3BB-7FC0-CD8A-060A0696E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81" y="1681615"/>
            <a:ext cx="9474680" cy="517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14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45C23D-61C5-E1E8-00FD-D213C374D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E418560-59AE-E9F7-3999-CB79E9585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98428-A3BD-32B4-A14E-E2923464D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bg1"/>
                </a:solidFill>
              </a:rPr>
              <a:t>Stock</a:t>
            </a:r>
            <a:br>
              <a:rPr lang="en-US" sz="4000"/>
            </a:b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CD1E28-12F3-D13D-0747-CDDC2521C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7A0DDC-688F-FC9C-B684-97B64D0FA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1DB2D-9F45-DED7-89AC-2CF037C55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059193"/>
            <a:ext cx="9880893" cy="45059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endParaRPr lang="en-US" sz="16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E04A34-DB8C-E33A-EDA8-EDA282E8A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81" y="1681615"/>
            <a:ext cx="9474680" cy="5176919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5D5A4E2-B67C-9FE5-4C07-DABEC28BA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2970"/>
            <a:ext cx="12192000" cy="516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91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BE97E-F746-EA69-297A-BACFB245F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AD62C7-9312-4845-20D6-152F53F69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E3A99-E88E-E880-C540-E5EF065A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bg1"/>
                </a:solidFill>
              </a:rPr>
              <a:t>Country</a:t>
            </a:r>
            <a:br>
              <a:rPr lang="en-US" sz="4000"/>
            </a:b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6F0A68-325A-EDCC-4DBD-B6BB1964F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4CCDFA-7E99-A878-FCA5-36E3EAA3F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918C6-4402-1CCC-416A-CA951B40C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059193"/>
            <a:ext cx="9880893" cy="45059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endParaRPr lang="en-US" sz="16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2C917A-6E8B-8EA8-2E47-37DAA7811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88" y="1728329"/>
            <a:ext cx="9474680" cy="508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86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7EDAAD-7F70-3BB6-2393-8E013A2D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ACC8CF-48EE-FF4C-8448-937BCAA5B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E9CC0-506B-264B-296F-4289A3A2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bg1"/>
                </a:solidFill>
              </a:rPr>
              <a:t>Pivot Table</a:t>
            </a:r>
            <a:br>
              <a:rPr lang="en-US" sz="4000"/>
            </a:b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7538C-DEB7-969A-AA85-57DC03F87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5E24A1-2079-FFBC-0116-2D0CBEF48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F3-1B76-1A2F-0548-8DD71BA8E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059193"/>
            <a:ext cx="9880893" cy="45059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endParaRPr lang="en-US" sz="16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C41543-7AA3-E563-0F6A-E0994B63A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289" y="1728329"/>
            <a:ext cx="9266477" cy="508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79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393A98-DC71-BFD1-F1E0-044186F13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51228E-38D5-1B29-21BC-0917BBF1D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C6105-069C-D1D1-0616-0CB7F5EFD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err="1">
                <a:solidFill>
                  <a:schemeClr val="bg1"/>
                </a:solidFill>
              </a:rPr>
              <a:t>CustomerData.Customer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8E9C62-6F01-6728-8B1B-F634DF8A3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A605D5-CB8A-3370-A582-38C055C8E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548480-BC02-97FD-7533-F38D357B1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8286" y="2217343"/>
            <a:ext cx="5435417" cy="395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93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94AB9-5FF6-3452-3126-CDD1B898A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133444-5541-7E73-F7D9-A447552F7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8286" y="2217343"/>
            <a:ext cx="5435417" cy="3959619"/>
          </a:xfrm>
          <a:prstGeom prst="rect">
            <a:avLst/>
          </a:prstGeom>
        </p:spPr>
      </p:pic>
      <p:pic>
        <p:nvPicPr>
          <p:cNvPr id="3" name="Picture 2" descr="A diagram of a data flow&#10;&#10;AI-generated content may be incorrect.">
            <a:extLst>
              <a:ext uri="{FF2B5EF4-FFF2-40B4-BE49-F238E27FC236}">
                <a16:creationId xmlns:a16="http://schemas.microsoft.com/office/drawing/2014/main" id="{59A9A607-8543-BA7D-9321-0670BD710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884" y="0"/>
            <a:ext cx="8770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06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14B20-2C6B-E900-C5C2-C5E4B566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DBBC356-F8E8-0708-7508-AAE21DA23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7D197D-8D98-84B3-C291-67D4A426E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8385DB-5086-28B8-0429-903750CA4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CCB7E0-5E64-2BA0-911A-432B4F0B2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0F1FB-2AF9-3BBD-871D-7F52E6716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We refactored and normalized the </a:t>
            </a:r>
            <a:r>
              <a:rPr lang="en-US" sz="2400" err="1"/>
              <a:t>PrestigeCars</a:t>
            </a:r>
            <a:r>
              <a:rPr lang="en-US" sz="2400"/>
              <a:t> database using taxonomy</a:t>
            </a:r>
          </a:p>
          <a:p>
            <a:r>
              <a:rPr lang="en-US" sz="2400"/>
              <a:t>Implemented UDTs FQDs and FQTNs to inject business meaning into the schema</a:t>
            </a:r>
          </a:p>
          <a:p>
            <a:r>
              <a:rPr lang="en-US" sz="2400"/>
              <a:t>Eliminated nulls to enforce 2-value predicate logic</a:t>
            </a:r>
          </a:p>
          <a:p>
            <a:r>
              <a:rPr lang="en-US" sz="2400"/>
              <a:t>Implemented </a:t>
            </a:r>
            <a:r>
              <a:rPr lang="en-US" sz="2400" err="1"/>
              <a:t>ReviewRow</a:t>
            </a:r>
            <a:r>
              <a:rPr lang="en-US" sz="2400"/>
              <a:t> for ELT data quality tracking</a:t>
            </a:r>
          </a:p>
          <a:p>
            <a:r>
              <a:rPr lang="en-US" sz="2400"/>
              <a:t>Produced an ERD showing cross system alignment through shared UDTs</a:t>
            </a:r>
          </a:p>
          <a:p>
            <a:r>
              <a:rPr lang="en-US" sz="2400"/>
              <a:t>We ended up with a taxonomized, normalized, and standardized version of </a:t>
            </a:r>
            <a:r>
              <a:rPr lang="en-US" sz="2400" err="1"/>
              <a:t>PrestigeCars</a:t>
            </a:r>
            <a:r>
              <a:rPr lang="en-US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5265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PrestigeCars Normalized Database  </vt:lpstr>
      <vt:lpstr>Project Overview </vt:lpstr>
      <vt:lpstr>Project Lifecycle</vt:lpstr>
      <vt:lpstr>Schemas and their meaning</vt:lpstr>
      <vt:lpstr>UDT Reuse Across the System</vt:lpstr>
      <vt:lpstr>How Our UDTs Encode Business Meaning</vt:lpstr>
      <vt:lpstr>Hierarchy &amp; use of UDT names</vt:lpstr>
      <vt:lpstr>Subsystem Schemas (FQTN)</vt:lpstr>
      <vt:lpstr>OperationsManagement.Stock</vt:lpstr>
      <vt:lpstr>Constraints and Default values used </vt:lpstr>
      <vt:lpstr>ReviewRow</vt:lpstr>
      <vt:lpstr>Data cleansing strategy</vt:lpstr>
      <vt:lpstr>Views</vt:lpstr>
      <vt:lpstr>Foreign Keys</vt:lpstr>
      <vt:lpstr>Make</vt:lpstr>
      <vt:lpstr>Model</vt:lpstr>
      <vt:lpstr>Sales Data</vt:lpstr>
      <vt:lpstr>SalesDetail </vt:lpstr>
      <vt:lpstr>Stock </vt:lpstr>
      <vt:lpstr>Country </vt:lpstr>
      <vt:lpstr>Pivot Table </vt:lpstr>
      <vt:lpstr>CustomerData.Customer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</cp:revision>
  <dcterms:created xsi:type="dcterms:W3CDTF">2025-11-29T18:17:21Z</dcterms:created>
  <dcterms:modified xsi:type="dcterms:W3CDTF">2025-12-01T03:02:57Z</dcterms:modified>
</cp:coreProperties>
</file>